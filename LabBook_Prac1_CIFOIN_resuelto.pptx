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95" r:id="rId6"/>
    <p:sldId id="290" r:id="rId7"/>
    <p:sldId id="298" r:id="rId8"/>
    <p:sldId id="299" r:id="rId9"/>
    <p:sldId id="291" r:id="rId10"/>
    <p:sldId id="292" r:id="rId11"/>
    <p:sldId id="297" r:id="rId12"/>
    <p:sldId id="293" r:id="rId13"/>
    <p:sldId id="300" r:id="rId14"/>
    <p:sldId id="301" r:id="rId15"/>
    <p:sldId id="302" r:id="rId16"/>
    <p:sldId id="288" r:id="rId1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C8A238-DB84-4530-8163-1B8A910B01D9}" v="514" dt="2026-03-11T08:23:15.167"/>
    <p1510:client id="{AE6B9144-59F3-4A41-B8E6-41BFF0453588}" v="672" dt="2026-03-11T12:30:10.90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1027" y="43"/>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14/03/2026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14/03/2026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1D41F-D29E-14E4-DC28-D7A2EC983B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E7E4CD-AF4E-5AB6-5EB3-2EB3ED300D4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7576D9-45B7-0B0F-5788-01BDF9222E2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E23193B-F51D-8494-DE16-D174E98ED659}"/>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607005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7E7-071C-7A79-CF67-1DD957AF33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EBEE1D-7842-15C3-7FD9-F2F56E8DA99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4CFEC2-DBB8-D193-C7F4-B76818C49F4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C238E37-3104-514E-5365-BF56D9BA3C6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221985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06D3-2914-A362-D3D3-DD79E9530E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4F085D-6B6C-14F2-DF3D-673D25473F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A74A84-21D1-30C5-BFD6-25156EF8E2B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5E87F3B-C494-116C-DD8D-78B4B24FA489}"/>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709865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1.0. </a:t>
            </a:r>
            <a:r>
              <a:rPr lang="es-ES" sz="3200" b="1" err="1">
                <a:latin typeface="Lucida Sans"/>
                <a:cs typeface="Lucida Sans"/>
              </a:rPr>
              <a:t>Waveguides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Ángel González de Amo y Adrián García Giner</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 -&gt; RESULTADOS EN LA SIGUIENTE DIAPOSITIVA</a:t>
            </a: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608C27-845A-9A08-A1D8-0D8B080335A8}"/>
              </a:ext>
            </a:extLst>
          </p:cNvPr>
          <p:cNvSpPr>
            <a:spLocks noGrp="1"/>
          </p:cNvSpPr>
          <p:nvPr>
            <p:ph type="title"/>
          </p:nvPr>
        </p:nvSpPr>
        <p:spPr/>
        <p:txBody>
          <a:bodyPr/>
          <a:lstStyle/>
          <a:p>
            <a:r>
              <a:rPr lang="es-ES"/>
              <a:t>I. Resultados ejercicio 1</a:t>
            </a:r>
          </a:p>
        </p:txBody>
      </p:sp>
      <p:sp>
        <p:nvSpPr>
          <p:cNvPr id="3" name="Marcador de texto 2">
            <a:extLst>
              <a:ext uri="{FF2B5EF4-FFF2-40B4-BE49-F238E27FC236}">
                <a16:creationId xmlns:a16="http://schemas.microsoft.com/office/drawing/2014/main" id="{97A75AA9-ADD8-474E-DFBA-FF6F825947A6}"/>
              </a:ext>
            </a:extLst>
          </p:cNvPr>
          <p:cNvSpPr>
            <a:spLocks noGrp="1"/>
          </p:cNvSpPr>
          <p:nvPr>
            <p:ph type="body" idx="1"/>
          </p:nvPr>
        </p:nvSpPr>
        <p:spPr>
          <a:xfrm>
            <a:off x="609600" y="914400"/>
            <a:ext cx="10972800" cy="5293757"/>
          </a:xfrm>
        </p:spPr>
        <p:txBody>
          <a:bodyPr wrap="square" lIns="0" tIns="0" rIns="0" bIns="0" anchor="t">
            <a:spAutoFit/>
          </a:bodyPr>
          <a:lstStyle/>
          <a:p>
            <a:r>
              <a:rPr lang="es-ES" b="1"/>
              <a:t>Índices de refracción efectivos: </a:t>
            </a:r>
          </a:p>
          <a:p>
            <a:pPr algn="just"/>
            <a:r>
              <a:rPr lang="es-ES" sz="1600"/>
              <a:t>Nos dicen la velocidad de propagación de la onda en la guía. Solo nos interesa la parte real del número. En nuestra guía, los índices de refracción van entre 2 (el índice de refracción del núcleo -&gt; n1) y 1.45 (el índice de refracción de la cubierta -&gt; n2), por lo que el índice efectivo debe estar entre estos dos (n1 &lt; n &lt; n2). </a:t>
            </a:r>
          </a:p>
          <a:p>
            <a:pPr algn="just"/>
            <a:endParaRPr lang="es-ES" sz="1600" b="1"/>
          </a:p>
          <a:p>
            <a:pPr marL="285750" indent="-285750" algn="just">
              <a:buFont typeface="Arial" panose="020B0604020202020204" pitchFamily="34" charset="0"/>
              <a:buChar char="•"/>
            </a:pPr>
            <a:r>
              <a:rPr lang="es-ES" sz="1600">
                <a:ea typeface="+mn-lt"/>
                <a:cs typeface="+mn-lt"/>
              </a:rPr>
              <a:t>Modo de orden 0: </a:t>
            </a:r>
            <a:r>
              <a:rPr lang="es-ES" sz="1600" err="1">
                <a:ea typeface="+mn-lt"/>
                <a:cs typeface="+mn-lt"/>
              </a:rPr>
              <a:t>neff</a:t>
            </a:r>
            <a:r>
              <a:rPr lang="es-ES" sz="1600">
                <a:ea typeface="+mn-lt"/>
                <a:cs typeface="+mn-lt"/>
              </a:rPr>
              <a:t> = [1.60524792+0.00010066j] -&gt; donde n ≈ 1.605. Lo que implica que la onda viaja bastante confinada en el núcleo de la guía.</a:t>
            </a:r>
          </a:p>
          <a:p>
            <a:pPr marL="285750" indent="-285750" algn="just">
              <a:buFont typeface="Arial" panose="020B0604020202020204" pitchFamily="34" charset="0"/>
              <a:buChar char="•"/>
            </a:pPr>
            <a:r>
              <a:rPr lang="es-ES" sz="1600">
                <a:ea typeface="+mn-lt"/>
                <a:cs typeface="+mn-lt"/>
              </a:rPr>
              <a:t>Modo de orden 1: [1.52829803+0.00017753j] -&gt; disminuye el confinamiento en el núcleo de la guía. </a:t>
            </a:r>
          </a:p>
          <a:p>
            <a:pPr marL="285750" indent="-285750" algn="just">
              <a:buFont typeface="Arial" panose="020B0604020202020204" pitchFamily="34" charset="0"/>
              <a:buChar char="•"/>
            </a:pPr>
            <a:r>
              <a:rPr lang="es-ES" sz="1600">
                <a:ea typeface="+mn-lt"/>
                <a:cs typeface="+mn-lt"/>
              </a:rPr>
              <a:t>Modo de orden 2: [1.45072999+0.00019228j] -&gt; en este caso n ≈ 1.4507. Esto implica que la onda viaja por la cubierta de la guía de onda. </a:t>
            </a:r>
          </a:p>
          <a:p>
            <a:pPr marL="285750" indent="-285750" algn="just">
              <a:buFont typeface="Arial" panose="020B0604020202020204" pitchFamily="34" charset="0"/>
              <a:buChar char="•"/>
            </a:pPr>
            <a:r>
              <a:rPr lang="es-ES" sz="1600">
                <a:ea typeface="+mn-lt"/>
                <a:cs typeface="+mn-lt"/>
              </a:rPr>
              <a:t>Modo de orden 3: [1.43325817+0.00021838j] -&gt; para este modo, la onda ni siquiera viaja por la cubierta.</a:t>
            </a:r>
          </a:p>
          <a:p>
            <a:pPr marL="285750" indent="-285750">
              <a:buFont typeface="Arial" panose="020B0604020202020204" pitchFamily="34" charset="0"/>
              <a:buChar char="•"/>
            </a:pPr>
            <a:endParaRPr lang="es-ES" sz="1600">
              <a:ea typeface="+mn-lt"/>
              <a:cs typeface="+mn-lt"/>
            </a:endParaRPr>
          </a:p>
          <a:p>
            <a:pPr marL="285750" indent="-285750">
              <a:buFont typeface="Arial" panose="020B0604020202020204" pitchFamily="34" charset="0"/>
              <a:buChar char="•"/>
            </a:pPr>
            <a:endParaRPr lang="es-ES" sz="1600">
              <a:ea typeface="+mn-lt"/>
              <a:cs typeface="+mn-lt"/>
            </a:endParaRPr>
          </a:p>
          <a:p>
            <a:r>
              <a:rPr lang="es-ES" b="1">
                <a:ea typeface="+mn-lt"/>
                <a:cs typeface="+mn-lt"/>
              </a:rPr>
              <a:t>Identificación de modos </a:t>
            </a:r>
            <a:r>
              <a:rPr lang="es-ES" b="1" err="1">
                <a:ea typeface="+mn-lt"/>
                <a:cs typeface="+mn-lt"/>
              </a:rPr>
              <a:t>quasi</a:t>
            </a:r>
            <a:r>
              <a:rPr lang="es-ES" b="1">
                <a:ea typeface="+mn-lt"/>
                <a:cs typeface="+mn-lt"/>
              </a:rPr>
              <a:t> TEM y </a:t>
            </a:r>
            <a:r>
              <a:rPr lang="es-ES" b="1" err="1">
                <a:ea typeface="+mn-lt"/>
                <a:cs typeface="+mn-lt"/>
              </a:rPr>
              <a:t>quasi</a:t>
            </a:r>
            <a:r>
              <a:rPr lang="es-ES" b="1">
                <a:ea typeface="+mn-lt"/>
                <a:cs typeface="+mn-lt"/>
              </a:rPr>
              <a:t> TM: </a:t>
            </a:r>
          </a:p>
          <a:p>
            <a:r>
              <a:rPr lang="es-ES" sz="1600"/>
              <a:t>Con la función: </a:t>
            </a:r>
            <a:r>
              <a:rPr lang="es-ES" sz="1600" err="1"/>
              <a:t>deep_waveguide.fraction_te</a:t>
            </a:r>
            <a:r>
              <a:rPr lang="es-ES" sz="1600"/>
              <a:t> obtenemos: </a:t>
            </a:r>
            <a:r>
              <a:rPr lang="en-US" sz="1600"/>
              <a:t>array([0.99505426, 0.01004259, 0.96264794, 0.047651])</a:t>
            </a:r>
          </a:p>
          <a:p>
            <a:endParaRPr lang="en-US" sz="1600"/>
          </a:p>
          <a:p>
            <a:r>
              <a:rPr lang="en-US" sz="1600"/>
              <a:t>Si </a:t>
            </a:r>
            <a:r>
              <a:rPr lang="en-US" sz="1600" err="1"/>
              <a:t>está</a:t>
            </a:r>
            <a:r>
              <a:rPr lang="en-US" sz="1600"/>
              <a:t> </a:t>
            </a:r>
            <a:r>
              <a:rPr lang="en-US" sz="1600" err="1"/>
              <a:t>cercano</a:t>
            </a:r>
            <a:r>
              <a:rPr lang="en-US" sz="1600"/>
              <a:t>  a 1 es modo quasi TEM y </a:t>
            </a:r>
            <a:r>
              <a:rPr lang="en-US" sz="1600" err="1"/>
              <a:t>si</a:t>
            </a:r>
            <a:r>
              <a:rPr lang="en-US" sz="1600"/>
              <a:t> </a:t>
            </a:r>
            <a:r>
              <a:rPr lang="en-US" sz="1600" err="1"/>
              <a:t>está</a:t>
            </a:r>
            <a:r>
              <a:rPr lang="en-US" sz="1600"/>
              <a:t> </a:t>
            </a:r>
            <a:r>
              <a:rPr lang="en-US" sz="1600" err="1"/>
              <a:t>cercano</a:t>
            </a:r>
            <a:r>
              <a:rPr lang="en-US" sz="1600"/>
              <a:t> a 0 es quasi TM. El primero es quasi TEM porque la fracción de TE da cercana a 1 y </a:t>
            </a:r>
            <a:r>
              <a:rPr lang="en-US" sz="1600" err="1"/>
              <a:t>el</a:t>
            </a:r>
            <a:r>
              <a:rPr lang="en-US" sz="1600"/>
              <a:t> segundo quasi TM porque la fracción de TE es prácticamente 0.</a:t>
            </a:r>
            <a:endParaRPr lang="es-ES" sz="1600"/>
          </a:p>
          <a:p>
            <a:endParaRPr lang="es-ES" b="1">
              <a:ea typeface="+mn-lt"/>
              <a:cs typeface="+mn-lt"/>
            </a:endParaRPr>
          </a:p>
          <a:p>
            <a:pPr algn="just"/>
            <a:endParaRPr lang="es-ES" sz="1600"/>
          </a:p>
          <a:p>
            <a:endParaRPr lang="es-ES"/>
          </a:p>
        </p:txBody>
      </p:sp>
      <p:sp>
        <p:nvSpPr>
          <p:cNvPr id="4" name="Marcador de pie de página 3">
            <a:extLst>
              <a:ext uri="{FF2B5EF4-FFF2-40B4-BE49-F238E27FC236}">
                <a16:creationId xmlns:a16="http://schemas.microsoft.com/office/drawing/2014/main" id="{1638125A-EDCE-2B00-77F4-F01E3484A53A}"/>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0A57DE23-0298-A4E1-BCC5-D9347FADF8BE}"/>
              </a:ext>
            </a:extLst>
          </p:cNvPr>
          <p:cNvSpPr>
            <a:spLocks noGrp="1"/>
          </p:cNvSpPr>
          <p:nvPr>
            <p:ph type="sldNum" sz="quarter" idx="7"/>
          </p:nvPr>
        </p:nvSpPr>
        <p:spPr/>
        <p:txBody>
          <a:bodyPr/>
          <a:lstStyle/>
          <a:p>
            <a:fld id="{B6F15528-21DE-4FAA-801E-634DDDAF4B2B}" type="slidenum">
              <a:rPr lang="es-ES" smtClean="0"/>
              <a:t>4</a:t>
            </a:fld>
            <a:endParaRPr lang="es-ES"/>
          </a:p>
        </p:txBody>
      </p:sp>
    </p:spTree>
    <p:extLst>
      <p:ext uri="{BB962C8B-B14F-4D97-AF65-F5344CB8AC3E}">
        <p14:creationId xmlns:p14="http://schemas.microsoft.com/office/powerpoint/2010/main" val="3139747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1C13DE-6B16-B114-8A0C-0459C5351378}"/>
              </a:ext>
            </a:extLst>
          </p:cNvPr>
          <p:cNvSpPr>
            <a:spLocks noGrp="1"/>
          </p:cNvSpPr>
          <p:nvPr>
            <p:ph type="title"/>
          </p:nvPr>
        </p:nvSpPr>
        <p:spPr/>
        <p:txBody>
          <a:bodyPr/>
          <a:lstStyle/>
          <a:p>
            <a:r>
              <a:rPr lang="es-ES"/>
              <a:t>II.Resultados ejercicio 1. Plots de los diferentes modos</a:t>
            </a:r>
          </a:p>
        </p:txBody>
      </p:sp>
      <p:sp>
        <p:nvSpPr>
          <p:cNvPr id="4" name="Marcador de pie de página 3">
            <a:extLst>
              <a:ext uri="{FF2B5EF4-FFF2-40B4-BE49-F238E27FC236}">
                <a16:creationId xmlns:a16="http://schemas.microsoft.com/office/drawing/2014/main" id="{9DB6887E-3126-CFBC-4D20-F640F0CA6805}"/>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42F6F722-0148-E60C-AE98-515C19FCC4AE}"/>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15" name="Imagen 14" descr="Gráfico, Histograma&#10;&#10;El contenido generado por IA puede ser incorrecto.">
            <a:extLst>
              <a:ext uri="{FF2B5EF4-FFF2-40B4-BE49-F238E27FC236}">
                <a16:creationId xmlns:a16="http://schemas.microsoft.com/office/drawing/2014/main" id="{AB716501-2C8B-6D7D-9FAA-51A9C3EE9BC7}"/>
              </a:ext>
            </a:extLst>
          </p:cNvPr>
          <p:cNvPicPr>
            <a:picLocks noChangeAspect="1"/>
          </p:cNvPicPr>
          <p:nvPr/>
        </p:nvPicPr>
        <p:blipFill>
          <a:blip r:embed="rId2"/>
          <a:stretch>
            <a:fillRect/>
          </a:stretch>
        </p:blipFill>
        <p:spPr>
          <a:xfrm>
            <a:off x="321037" y="838200"/>
            <a:ext cx="3726399" cy="2507906"/>
          </a:xfrm>
          <a:prstGeom prst="rect">
            <a:avLst/>
          </a:prstGeom>
        </p:spPr>
      </p:pic>
      <p:pic>
        <p:nvPicPr>
          <p:cNvPr id="17" name="Imagen 16" descr="Gráfico&#10;&#10;El contenido generado por IA puede ser incorrecto.">
            <a:extLst>
              <a:ext uri="{FF2B5EF4-FFF2-40B4-BE49-F238E27FC236}">
                <a16:creationId xmlns:a16="http://schemas.microsoft.com/office/drawing/2014/main" id="{B8FCFE91-FEBE-EF6F-C5A5-2192B73BFC30}"/>
              </a:ext>
            </a:extLst>
          </p:cNvPr>
          <p:cNvPicPr>
            <a:picLocks noChangeAspect="1"/>
          </p:cNvPicPr>
          <p:nvPr/>
        </p:nvPicPr>
        <p:blipFill>
          <a:blip r:embed="rId3"/>
          <a:stretch>
            <a:fillRect/>
          </a:stretch>
        </p:blipFill>
        <p:spPr>
          <a:xfrm>
            <a:off x="4062987" y="800878"/>
            <a:ext cx="3726399" cy="2507906"/>
          </a:xfrm>
          <a:prstGeom prst="rect">
            <a:avLst/>
          </a:prstGeom>
        </p:spPr>
      </p:pic>
      <p:pic>
        <p:nvPicPr>
          <p:cNvPr id="19" name="Imagen 18" descr="Gráfico&#10;&#10;El contenido generado por IA puede ser incorrecto.">
            <a:extLst>
              <a:ext uri="{FF2B5EF4-FFF2-40B4-BE49-F238E27FC236}">
                <a16:creationId xmlns:a16="http://schemas.microsoft.com/office/drawing/2014/main" id="{4E98552F-73AD-1195-9F58-898DD28756A7}"/>
              </a:ext>
            </a:extLst>
          </p:cNvPr>
          <p:cNvPicPr>
            <a:picLocks noChangeAspect="1"/>
          </p:cNvPicPr>
          <p:nvPr/>
        </p:nvPicPr>
        <p:blipFill>
          <a:blip r:embed="rId4"/>
          <a:stretch>
            <a:fillRect/>
          </a:stretch>
        </p:blipFill>
        <p:spPr>
          <a:xfrm>
            <a:off x="321037" y="3346106"/>
            <a:ext cx="3803763" cy="2559481"/>
          </a:xfrm>
          <a:prstGeom prst="rect">
            <a:avLst/>
          </a:prstGeom>
        </p:spPr>
      </p:pic>
      <p:pic>
        <p:nvPicPr>
          <p:cNvPr id="21" name="Imagen 20" descr="Gráfico, Histograma&#10;&#10;El contenido generado por IA puede ser incorrecto.">
            <a:extLst>
              <a:ext uri="{FF2B5EF4-FFF2-40B4-BE49-F238E27FC236}">
                <a16:creationId xmlns:a16="http://schemas.microsoft.com/office/drawing/2014/main" id="{F940CE87-37FA-F6C9-0DD1-79FAB38C0E9B}"/>
              </a:ext>
            </a:extLst>
          </p:cNvPr>
          <p:cNvPicPr>
            <a:picLocks noChangeAspect="1"/>
          </p:cNvPicPr>
          <p:nvPr/>
        </p:nvPicPr>
        <p:blipFill>
          <a:blip r:embed="rId5"/>
          <a:stretch>
            <a:fillRect/>
          </a:stretch>
        </p:blipFill>
        <p:spPr>
          <a:xfrm>
            <a:off x="4047436" y="3333665"/>
            <a:ext cx="3803764" cy="2507905"/>
          </a:xfrm>
          <a:prstGeom prst="rect">
            <a:avLst/>
          </a:prstGeom>
        </p:spPr>
      </p:pic>
      <p:sp>
        <p:nvSpPr>
          <p:cNvPr id="22" name="Título 1">
            <a:extLst>
              <a:ext uri="{FF2B5EF4-FFF2-40B4-BE49-F238E27FC236}">
                <a16:creationId xmlns:a16="http://schemas.microsoft.com/office/drawing/2014/main" id="{1E83A990-34EF-11A9-3B90-91E2A60017E5}"/>
              </a:ext>
            </a:extLst>
          </p:cNvPr>
          <p:cNvSpPr txBox="1">
            <a:spLocks/>
          </p:cNvSpPr>
          <p:nvPr/>
        </p:nvSpPr>
        <p:spPr>
          <a:xfrm>
            <a:off x="615432" y="3050770"/>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TE0</a:t>
            </a:r>
          </a:p>
        </p:txBody>
      </p:sp>
      <p:sp>
        <p:nvSpPr>
          <p:cNvPr id="23" name="Título 1">
            <a:extLst>
              <a:ext uri="{FF2B5EF4-FFF2-40B4-BE49-F238E27FC236}">
                <a16:creationId xmlns:a16="http://schemas.microsoft.com/office/drawing/2014/main" id="{B7840245-10C7-D4EA-5DAE-CC0CDD5A780F}"/>
              </a:ext>
            </a:extLst>
          </p:cNvPr>
          <p:cNvSpPr txBox="1">
            <a:spLocks/>
          </p:cNvSpPr>
          <p:nvPr/>
        </p:nvSpPr>
        <p:spPr>
          <a:xfrm>
            <a:off x="4850243" y="3121223"/>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TM0</a:t>
            </a:r>
          </a:p>
        </p:txBody>
      </p:sp>
      <p:sp>
        <p:nvSpPr>
          <p:cNvPr id="24" name="Título 1">
            <a:extLst>
              <a:ext uri="{FF2B5EF4-FFF2-40B4-BE49-F238E27FC236}">
                <a16:creationId xmlns:a16="http://schemas.microsoft.com/office/drawing/2014/main" id="{44339CD6-2DB8-4B25-6B7A-F470A1D6A585}"/>
              </a:ext>
            </a:extLst>
          </p:cNvPr>
          <p:cNvSpPr txBox="1">
            <a:spLocks/>
          </p:cNvSpPr>
          <p:nvPr/>
        </p:nvSpPr>
        <p:spPr>
          <a:xfrm>
            <a:off x="737018" y="5719722"/>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TE1</a:t>
            </a:r>
          </a:p>
        </p:txBody>
      </p:sp>
      <p:sp>
        <p:nvSpPr>
          <p:cNvPr id="25" name="Título 1">
            <a:extLst>
              <a:ext uri="{FF2B5EF4-FFF2-40B4-BE49-F238E27FC236}">
                <a16:creationId xmlns:a16="http://schemas.microsoft.com/office/drawing/2014/main" id="{D1BDA5D0-8C32-0B31-B452-AC8DBB9CA7B6}"/>
              </a:ext>
            </a:extLst>
          </p:cNvPr>
          <p:cNvSpPr txBox="1">
            <a:spLocks/>
          </p:cNvSpPr>
          <p:nvPr/>
        </p:nvSpPr>
        <p:spPr>
          <a:xfrm>
            <a:off x="4438535" y="5770576"/>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TM1</a:t>
            </a:r>
          </a:p>
        </p:txBody>
      </p:sp>
      <p:sp>
        <p:nvSpPr>
          <p:cNvPr id="26" name="Marcador de texto 2">
            <a:extLst>
              <a:ext uri="{FF2B5EF4-FFF2-40B4-BE49-F238E27FC236}">
                <a16:creationId xmlns:a16="http://schemas.microsoft.com/office/drawing/2014/main" id="{64CD2C29-AAF2-4A96-4C8E-843F839A04F8}"/>
              </a:ext>
            </a:extLst>
          </p:cNvPr>
          <p:cNvSpPr>
            <a:spLocks noGrp="1"/>
          </p:cNvSpPr>
          <p:nvPr>
            <p:ph type="body" idx="1"/>
          </p:nvPr>
        </p:nvSpPr>
        <p:spPr>
          <a:xfrm>
            <a:off x="7838448" y="1213008"/>
            <a:ext cx="4174014" cy="3816429"/>
          </a:xfrm>
        </p:spPr>
        <p:txBody>
          <a:bodyPr wrap="square" lIns="0" tIns="0" rIns="0" bIns="0" anchor="t">
            <a:spAutoFit/>
          </a:bodyPr>
          <a:lstStyle/>
          <a:p>
            <a:pPr marL="285750" indent="-285750" algn="just">
              <a:buFont typeface="Arial" panose="020B0604020202020204" pitchFamily="34" charset="0"/>
              <a:buChar char="•"/>
            </a:pPr>
            <a:endParaRPr lang="es-ES" sz="1600">
              <a:ea typeface="+mn-lt"/>
              <a:cs typeface="+mn-lt"/>
            </a:endParaRPr>
          </a:p>
          <a:p>
            <a:pPr algn="just"/>
            <a:endParaRPr lang="es-ES" sz="1600"/>
          </a:p>
          <a:p>
            <a:pPr algn="just"/>
            <a:r>
              <a:rPr lang="es-ES"/>
              <a:t>Como vemos, los modos TE tienen discontinuidades en las paredes laterales. Por el contrario, los modos TM tienen discontinuidades en las paredes superior e inferior. </a:t>
            </a:r>
          </a:p>
          <a:p>
            <a:pPr algn="just"/>
            <a:endParaRPr lang="es-ES"/>
          </a:p>
          <a:p>
            <a:pPr algn="just"/>
            <a:r>
              <a:rPr lang="es-ES"/>
              <a:t>Como TE1 y TM1 son modos no propagados, se ve la radiación. El modo TE1 presenta un nulo en el medio, por eso no sabemos que es TE1.</a:t>
            </a:r>
          </a:p>
          <a:p>
            <a:endParaRPr lang="es-ES"/>
          </a:p>
          <a:p>
            <a:endParaRPr lang="es-ES"/>
          </a:p>
        </p:txBody>
      </p:sp>
    </p:spTree>
    <p:extLst>
      <p:ext uri="{BB962C8B-B14F-4D97-AF65-F5344CB8AC3E}">
        <p14:creationId xmlns:p14="http://schemas.microsoft.com/office/powerpoint/2010/main" val="3710879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39462"/>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Tal y como puede observarse si comparamos las figuras 1 y 2, al añadir un slab, el núcleo (con un índice de refracción mayor que el de la cubierta) ocupa más espacio dentro de la guía de onda. Este aumento provoca inevitablemente un aumento del índice de refracción efectivo ya que este es una “media” del n1 y n2.</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Además, en ambas Figuras se observa una caída lineal del neff a medida que aumenta la longitude de onda. Tal y como se vió en teoría: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n 12" descr="Gráfico, Gráfico de líneas&#10;&#10;El contenido generado por IA puede ser incorrecto.">
            <a:extLst>
              <a:ext uri="{FF2B5EF4-FFF2-40B4-BE49-F238E27FC236}">
                <a16:creationId xmlns:a16="http://schemas.microsoft.com/office/drawing/2014/main" id="{8F193DDC-497B-C01E-B444-9A818FD732B9}"/>
              </a:ext>
            </a:extLst>
          </p:cNvPr>
          <p:cNvPicPr>
            <a:picLocks noChangeAspect="1"/>
          </p:cNvPicPr>
          <p:nvPr/>
        </p:nvPicPr>
        <p:blipFill>
          <a:blip r:embed="rId5"/>
          <a:stretch>
            <a:fillRect/>
          </a:stretch>
        </p:blipFill>
        <p:spPr>
          <a:xfrm>
            <a:off x="6592970" y="1587609"/>
            <a:ext cx="5087240" cy="2967556"/>
          </a:xfrm>
          <a:prstGeom prst="rect">
            <a:avLst/>
          </a:prstGeom>
        </p:spPr>
      </p:pic>
      <p:pic>
        <p:nvPicPr>
          <p:cNvPr id="15" name="Imagen 14" descr="Gráfico, Gráfico de líneas&#10;&#10;El contenido generado por IA puede ser incorrecto.">
            <a:extLst>
              <a:ext uri="{FF2B5EF4-FFF2-40B4-BE49-F238E27FC236}">
                <a16:creationId xmlns:a16="http://schemas.microsoft.com/office/drawing/2014/main" id="{E10EFF62-400A-2914-E754-206B13E43493}"/>
              </a:ext>
            </a:extLst>
          </p:cNvPr>
          <p:cNvPicPr>
            <a:picLocks noChangeAspect="1"/>
          </p:cNvPicPr>
          <p:nvPr/>
        </p:nvPicPr>
        <p:blipFill>
          <a:blip r:embed="rId6"/>
          <a:stretch>
            <a:fillRect/>
          </a:stretch>
        </p:blipFill>
        <p:spPr>
          <a:xfrm>
            <a:off x="732106" y="1587608"/>
            <a:ext cx="5087240" cy="2967557"/>
          </a:xfrm>
          <a:prstGeom prst="rect">
            <a:avLst/>
          </a:prstGeom>
        </p:spPr>
      </p:pic>
      <p:sp>
        <p:nvSpPr>
          <p:cNvPr id="17" name="CuadroTexto 16">
            <a:extLst>
              <a:ext uri="{FF2B5EF4-FFF2-40B4-BE49-F238E27FC236}">
                <a16:creationId xmlns:a16="http://schemas.microsoft.com/office/drawing/2014/main" id="{26619607-EF18-B7C5-3B9B-8A5091E0B3A1}"/>
              </a:ext>
            </a:extLst>
          </p:cNvPr>
          <p:cNvSpPr txBox="1"/>
          <p:nvPr/>
        </p:nvSpPr>
        <p:spPr>
          <a:xfrm>
            <a:off x="2750229" y="4482466"/>
            <a:ext cx="1050994" cy="276999"/>
          </a:xfrm>
          <a:prstGeom prst="rect">
            <a:avLst/>
          </a:prstGeom>
          <a:noFill/>
        </p:spPr>
        <p:txBody>
          <a:bodyPr wrap="square" rtlCol="0">
            <a:spAutoFit/>
          </a:bodyPr>
          <a:lstStyle/>
          <a:p>
            <a:r>
              <a:rPr lang="es-ES" sz="1200" b="1"/>
              <a:t>Figura 1</a:t>
            </a:r>
          </a:p>
        </p:txBody>
      </p:sp>
      <p:sp>
        <p:nvSpPr>
          <p:cNvPr id="18" name="CuadroTexto 17">
            <a:extLst>
              <a:ext uri="{FF2B5EF4-FFF2-40B4-BE49-F238E27FC236}">
                <a16:creationId xmlns:a16="http://schemas.microsoft.com/office/drawing/2014/main" id="{6042A01D-9540-029C-3023-E1C32B1FF8B2}"/>
              </a:ext>
            </a:extLst>
          </p:cNvPr>
          <p:cNvSpPr txBox="1"/>
          <p:nvPr/>
        </p:nvSpPr>
        <p:spPr>
          <a:xfrm>
            <a:off x="8617629" y="4482466"/>
            <a:ext cx="1050994" cy="276999"/>
          </a:xfrm>
          <a:prstGeom prst="rect">
            <a:avLst/>
          </a:prstGeom>
          <a:noFill/>
        </p:spPr>
        <p:txBody>
          <a:bodyPr wrap="square" rtlCol="0">
            <a:spAutoFit/>
          </a:bodyPr>
          <a:lstStyle/>
          <a:p>
            <a:r>
              <a:rPr lang="es-ES" sz="1200" b="1"/>
              <a:t>Figura 2</a:t>
            </a:r>
          </a:p>
        </p:txBody>
      </p:sp>
      <p:pic>
        <p:nvPicPr>
          <p:cNvPr id="20" name="Imagen 19" descr="Texto&#10;&#10;El contenido generado por IA puede ser incorrecto.">
            <a:extLst>
              <a:ext uri="{FF2B5EF4-FFF2-40B4-BE49-F238E27FC236}">
                <a16:creationId xmlns:a16="http://schemas.microsoft.com/office/drawing/2014/main" id="{A240FE5D-787A-25CA-C6FF-5DAAF2D33F80}"/>
              </a:ext>
            </a:extLst>
          </p:cNvPr>
          <p:cNvPicPr>
            <a:picLocks noChangeAspect="1"/>
          </p:cNvPicPr>
          <p:nvPr/>
        </p:nvPicPr>
        <p:blipFill>
          <a:blip r:embed="rId7"/>
          <a:stretch>
            <a:fillRect/>
          </a:stretch>
        </p:blipFill>
        <p:spPr>
          <a:xfrm>
            <a:off x="9311640" y="5685189"/>
            <a:ext cx="1874682" cy="381033"/>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980572" y="1499830"/>
            <a:ext cx="4793409" cy="4154984"/>
          </a:xfrm>
          <a:prstGeom prst="rect">
            <a:avLst/>
          </a:prstGeom>
          <a:solidFill>
            <a:schemeClr val="bg1">
              <a:lumMod val="95000"/>
            </a:schemeClr>
          </a:solidFill>
          <a:ln w="28575">
            <a:solidFill>
              <a:srgbClr val="E0700D"/>
            </a:solidFill>
          </a:ln>
        </p:spPr>
        <p:txBody>
          <a:bodyPr wrap="square" rtlCol="0">
            <a:spAutoFit/>
          </a:bodyPr>
          <a:lstStyle/>
          <a:p>
            <a:pPr marL="171450" indent="-171450" algn="just">
              <a:buFontTx/>
              <a:buChar char="-"/>
            </a:pPr>
            <a:r>
              <a:rPr lang="en-US" sz="1200">
                <a:latin typeface="Arial" panose="020B0604020202020204" pitchFamily="34" charset="0"/>
                <a:cs typeface="Arial" panose="020B0604020202020204" pitchFamily="34" charset="0"/>
              </a:rPr>
              <a:t>A </a:t>
            </a:r>
            <a:r>
              <a:rPr lang="en-US" sz="1200" err="1">
                <a:latin typeface="Arial" panose="020B0604020202020204" pitchFamily="34" charset="0"/>
                <a:cs typeface="Arial" panose="020B0604020202020204" pitchFamily="34" charset="0"/>
              </a:rPr>
              <a:t>medida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aumentamos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ancho de la </a:t>
            </a:r>
            <a:r>
              <a:rPr lang="en-US" sz="1200" err="1">
                <a:latin typeface="Arial" panose="020B0604020202020204" pitchFamily="34" charset="0"/>
                <a:cs typeface="Arial" panose="020B0604020202020204" pitchFamily="34" charset="0"/>
              </a:rPr>
              <a:t>guía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efectivo</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todos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aumenta</a:t>
            </a:r>
            <a:r>
              <a:rPr lang="en-US" sz="1200">
                <a:latin typeface="Arial" panose="020B0604020202020204" pitchFamily="34" charset="0"/>
                <a:cs typeface="Arial" panose="020B0604020202020204" pitchFamily="34" charset="0"/>
              </a:rPr>
              <a:t>.</a:t>
            </a:r>
            <a:r>
              <a:rPr lang="es-ES" sz="1200">
                <a:latin typeface="Arial" panose="020B0604020202020204" pitchFamily="34" charset="0"/>
                <a:cs typeface="Arial" panose="020B0604020202020204" pitchFamily="34" charset="0"/>
              </a:rPr>
              <a:t> Esto ocurre porque el modo óptico queda cada vez más confinado dentro del núcleo de </a:t>
            </a:r>
            <a:r>
              <a:rPr lang="es-ES" sz="1200" err="1">
                <a:latin typeface="Arial" panose="020B0604020202020204" pitchFamily="34" charset="0"/>
                <a:cs typeface="Arial" panose="020B0604020202020204" pitchFamily="34" charset="0"/>
              </a:rPr>
              <a:t>SiNx</a:t>
            </a:r>
            <a:r>
              <a:rPr lang="es-ES" sz="1200">
                <a:latin typeface="Arial" panose="020B0604020202020204" pitchFamily="34" charset="0"/>
                <a:cs typeface="Arial" panose="020B0604020202020204" pitchFamily="34" charset="0"/>
              </a:rPr>
              <a:t> (de alto índice) y menos en el revestimiento de SiO2</a:t>
            </a:r>
            <a:br>
              <a:rPr lang="es-ES" sz="1200">
                <a:latin typeface="Arial" panose="020B0604020202020204" pitchFamily="34" charset="0"/>
                <a:cs typeface="Arial" panose="020B0604020202020204" pitchFamily="34" charset="0"/>
              </a:rPr>
            </a:br>
            <a:endParaRPr lang="es-ES" sz="1200">
              <a:latin typeface="Arial" panose="020B0604020202020204" pitchFamily="34" charset="0"/>
              <a:cs typeface="Arial" panose="020B0604020202020204" pitchFamily="34" charset="0"/>
            </a:endParaRPr>
          </a:p>
          <a:p>
            <a:pPr marL="171450" indent="-171450" algn="just">
              <a:buFontTx/>
              <a:buChar char="-"/>
            </a:pPr>
            <a:r>
              <a:rPr lang="es-ES" sz="1200">
                <a:latin typeface="Arial" panose="020B0604020202020204" pitchFamily="34" charset="0"/>
                <a:cs typeface="Arial" panose="020B0604020202020204" pitchFamily="34" charset="0"/>
              </a:rPr>
              <a:t>Comportamiento de la polarización: La gráfica muestra el modo fundamental (Modo 0) en rojo (Fracción TE casi 1.0), indicando que es un modo fuertemente TE. Como la guía es mucho más ancha que alta se favorece que el campo eléctrico se oriente de forma horizontal. El Modo 1, en azul (Fracción TE casi 0.0), corresponde a su contraparte TM.</a:t>
            </a:r>
            <a:br>
              <a:rPr lang="es-ES" sz="1200">
                <a:latin typeface="Arial" panose="020B0604020202020204" pitchFamily="34" charset="0"/>
                <a:cs typeface="Arial" panose="020B0604020202020204" pitchFamily="34" charset="0"/>
              </a:rPr>
            </a:br>
            <a:endParaRPr lang="es-ES" sz="1200">
              <a:latin typeface="Arial" panose="020B0604020202020204" pitchFamily="34" charset="0"/>
              <a:cs typeface="Arial" panose="020B0604020202020204" pitchFamily="34" charset="0"/>
            </a:endParaRPr>
          </a:p>
          <a:p>
            <a:pPr marL="171450" indent="-171450" algn="just">
              <a:buFontTx/>
              <a:buChar char="-"/>
            </a:pPr>
            <a:r>
              <a:rPr lang="es-ES" sz="1200">
                <a:latin typeface="Arial" panose="020B0604020202020204" pitchFamily="34" charset="0"/>
                <a:cs typeface="Arial" panose="020B0604020202020204" pitchFamily="34" charset="0"/>
              </a:rPr>
              <a:t>A anchos pequeños (0.6 µm) la guía solo soporta modos fundamentales. A medida que ensanchamos la guía, observamos cómo las curvas de los Modos 2 y 3 superan la línea del índice del SiO2, lo que indica que la guía se vuelve multimodo y empieza a confinar estos modos de orden superior</a:t>
            </a:r>
          </a:p>
          <a:p>
            <a:pPr marL="171450" indent="-171450" algn="just">
              <a:buFontTx/>
              <a:buChar char="-"/>
            </a:pP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304801" y="1418372"/>
            <a:ext cx="6017342" cy="423644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líneas&#10;&#10;El contenido generado por IA puede ser incorrecto.">
            <a:extLst>
              <a:ext uri="{FF2B5EF4-FFF2-40B4-BE49-F238E27FC236}">
                <a16:creationId xmlns:a16="http://schemas.microsoft.com/office/drawing/2014/main" id="{87618D07-502A-E443-8F74-775ED0FE5FEB}"/>
              </a:ext>
            </a:extLst>
          </p:cNvPr>
          <p:cNvPicPr>
            <a:picLocks noChangeAspect="1"/>
          </p:cNvPicPr>
          <p:nvPr/>
        </p:nvPicPr>
        <p:blipFill>
          <a:blip r:embed="rId5"/>
          <a:stretch>
            <a:fillRect/>
          </a:stretch>
        </p:blipFill>
        <p:spPr>
          <a:xfrm>
            <a:off x="471578" y="1859309"/>
            <a:ext cx="5762443" cy="3354566"/>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a:t>Learni</a:t>
            </a:r>
            <a:r>
              <a:rPr lang="en-US" sz="2500" b="0"/>
              <a:t>ng</a:t>
            </a:r>
            <a:r>
              <a:rPr lang="en-US" sz="2500"/>
              <a:t> outcome #4 – Waveguide compact model</a:t>
            </a:r>
            <a:br>
              <a:rPr lang="en-US" sz="2500" spc="-5">
                <a:latin typeface="+mj-lt"/>
                <a:cs typeface="Lucida Sans"/>
              </a:rPr>
            </a:br>
            <a:r>
              <a:rPr lang="en-US" b="0"/>
              <a:t>- Find the compact models of the following waveguides: </a:t>
            </a:r>
            <a:br>
              <a:rPr lang="en-US" b="0"/>
            </a:br>
            <a:r>
              <a:rPr lang="en-US"/>
              <a:t>Deep</a:t>
            </a:r>
            <a:r>
              <a:rPr lang="en-US" b="0"/>
              <a:t> waveguide, h=300nm, w=1.2um   - </a:t>
            </a:r>
            <a:r>
              <a:rPr lang="en-US"/>
              <a:t>Shallow</a:t>
            </a:r>
            <a:r>
              <a:rPr lang="en-US" b="0"/>
              <a:t> waveguide, core h=300nm, slab h=150 nm, w = 1.2um </a:t>
            </a:r>
            <a:br>
              <a:rPr lang="en-US" b="0"/>
            </a:br>
            <a:endParaRPr lang="en-US" sz="2500" b="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200329"/>
          </a:xfrm>
          <a:prstGeom prst="rect">
            <a:avLst/>
          </a:prstGeom>
          <a:solidFill>
            <a:schemeClr val="bg1">
              <a:lumMod val="95000"/>
            </a:schemeClr>
          </a:solidFill>
          <a:ln w="28575">
            <a:solidFill>
              <a:srgbClr val="E0700D"/>
            </a:solidFill>
          </a:ln>
        </p:spPr>
        <p:txBody>
          <a:bodyPr wrap="square" rtlCol="0">
            <a:spAutoFit/>
          </a:bodyPr>
          <a:lstStyle/>
          <a:p>
            <a:pPr lvl="0" eaLnBrk="0" fontAlgn="base" hangingPunct="0">
              <a:spcBef>
                <a:spcPct val="0"/>
              </a:spcBef>
              <a:spcAft>
                <a:spcPct val="0"/>
              </a:spcAft>
              <a:buFontTx/>
              <a:buChar char="•"/>
            </a:pPr>
            <a:r>
              <a:rPr lang="es-ES" altLang="es-ES" sz="1200" b="1">
                <a:latin typeface="Google Sans Text"/>
              </a:rPr>
              <a:t>Efecto de la polarización (TE vs TM):</a:t>
            </a:r>
            <a:r>
              <a:rPr lang="es-ES" altLang="es-ES" sz="1200">
                <a:latin typeface="Google Sans Text"/>
              </a:rPr>
              <a:t> En ambas guías, el modo TE0 presenta un índice efectivo </a:t>
            </a:r>
            <a:r>
              <a:rPr lang="es-ES" altLang="es-ES" sz="1200" err="1">
                <a:latin typeface="Google Sans Text"/>
              </a:rPr>
              <a:t>neff</a:t>
            </a:r>
            <a:r>
              <a:rPr lang="es-ES" altLang="es-ES" sz="1200">
                <a:latin typeface="Google Sans Text"/>
              </a:rPr>
              <a:t> y un índice de grupo ng notablemente mayores que el TM0. Al ser una guía muy ancha (1.2 µm) respecto a su altura (300 nm), el campo eléctrico horizontal (TE) está mucho más confinado en el núcleo que el vertical (TM).</a:t>
            </a:r>
          </a:p>
          <a:p>
            <a:pPr lvl="0" eaLnBrk="0" fontAlgn="base" hangingPunct="0">
              <a:spcBef>
                <a:spcPct val="0"/>
              </a:spcBef>
              <a:spcAft>
                <a:spcPct val="0"/>
              </a:spcAft>
              <a:buFontTx/>
              <a:buChar char="•"/>
            </a:pPr>
            <a:endParaRPr lang="es-ES" altLang="es-ES" sz="1200">
              <a:latin typeface="Google Sans Text"/>
            </a:endParaRPr>
          </a:p>
          <a:p>
            <a:pPr lvl="0" eaLnBrk="0" fontAlgn="base" hangingPunct="0">
              <a:spcBef>
                <a:spcPct val="0"/>
              </a:spcBef>
              <a:spcAft>
                <a:spcPct val="0"/>
              </a:spcAft>
              <a:buFontTx/>
              <a:buChar char="•"/>
            </a:pPr>
            <a:r>
              <a:rPr lang="es-ES" altLang="es-ES" sz="1200" b="1">
                <a:latin typeface="Google Sans Text"/>
              </a:rPr>
              <a:t>Efecto del </a:t>
            </a:r>
            <a:r>
              <a:rPr lang="es-ES" altLang="es-ES" sz="1200" b="1" err="1">
                <a:latin typeface="Google Sans Text"/>
              </a:rPr>
              <a:t>Slab</a:t>
            </a:r>
            <a:r>
              <a:rPr lang="es-ES" altLang="es-ES" sz="1200" b="1">
                <a:latin typeface="Google Sans Text"/>
              </a:rPr>
              <a:t> (Deep vs </a:t>
            </a:r>
            <a:r>
              <a:rPr lang="es-ES" altLang="es-ES" sz="1200" b="1" err="1">
                <a:latin typeface="Google Sans Text"/>
              </a:rPr>
              <a:t>Shallow</a:t>
            </a:r>
            <a:r>
              <a:rPr lang="es-ES" altLang="es-ES" sz="1200" b="1">
                <a:latin typeface="Google Sans Text"/>
              </a:rPr>
              <a:t>):</a:t>
            </a:r>
            <a:r>
              <a:rPr lang="es-ES" altLang="es-ES" sz="1200">
                <a:latin typeface="Google Sans Text"/>
              </a:rPr>
              <a:t> Al introducir el </a:t>
            </a:r>
            <a:r>
              <a:rPr lang="es-ES" altLang="es-ES" sz="1200" err="1">
                <a:latin typeface="Google Sans Text"/>
              </a:rPr>
              <a:t>slab</a:t>
            </a:r>
            <a:r>
              <a:rPr lang="es-ES" altLang="es-ES" sz="1200">
                <a:latin typeface="Google Sans Text"/>
              </a:rPr>
              <a:t> de 150 nm (</a:t>
            </a:r>
            <a:r>
              <a:rPr lang="es-ES" altLang="es-ES" sz="1200" err="1">
                <a:latin typeface="Google Sans Text"/>
              </a:rPr>
              <a:t>Shallow</a:t>
            </a:r>
            <a:r>
              <a:rPr lang="es-ES" altLang="es-ES" sz="1200">
                <a:latin typeface="Google Sans Text"/>
              </a:rPr>
              <a:t> </a:t>
            </a:r>
            <a:r>
              <a:rPr lang="es-ES" altLang="es-ES" sz="1200" err="1">
                <a:latin typeface="Google Sans Text"/>
              </a:rPr>
              <a:t>waveguide</a:t>
            </a:r>
            <a:r>
              <a:rPr lang="es-ES" altLang="es-ES" sz="1200">
                <a:latin typeface="Google Sans Text"/>
              </a:rPr>
              <a:t>), observamos que </a:t>
            </a:r>
            <a:r>
              <a:rPr lang="es-ES" altLang="es-ES" sz="1200" err="1">
                <a:latin typeface="Google Sans Text"/>
              </a:rPr>
              <a:t>neff</a:t>
            </a:r>
            <a:r>
              <a:rPr lang="es-ES" altLang="es-ES" sz="1200">
                <a:latin typeface="Google Sans Text"/>
              </a:rPr>
              <a:t> y ng aumentan para todos los modos. Esto concuerda con la teoría: al añadir material de </a:t>
            </a:r>
            <a:r>
              <a:rPr lang="es-ES" altLang="es-ES" sz="1200" err="1">
                <a:latin typeface="Google Sans Text"/>
              </a:rPr>
              <a:t>SiNx</a:t>
            </a:r>
            <a:r>
              <a:rPr lang="es-ES" altLang="es-ES" sz="1200">
                <a:latin typeface="Google Sans Text"/>
              </a:rPr>
              <a:t> a los lados, el modo interactúa con un entorno de mayor índice de refracción promedio.</a:t>
            </a:r>
            <a:endParaRPr lang="es-ES" altLang="es-ES" sz="1200">
              <a:latin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n 13">
            <a:extLst>
              <a:ext uri="{FF2B5EF4-FFF2-40B4-BE49-F238E27FC236}">
                <a16:creationId xmlns:a16="http://schemas.microsoft.com/office/drawing/2014/main" id="{F54D8F3D-1B9B-02D7-9D20-E6D9D1AE35E8}"/>
              </a:ext>
            </a:extLst>
          </p:cNvPr>
          <p:cNvPicPr>
            <a:picLocks noChangeAspect="1"/>
          </p:cNvPicPr>
          <p:nvPr/>
        </p:nvPicPr>
        <p:blipFill>
          <a:blip r:embed="rId5"/>
          <a:stretch>
            <a:fillRect/>
          </a:stretch>
        </p:blipFill>
        <p:spPr>
          <a:xfrm>
            <a:off x="644173" y="1758864"/>
            <a:ext cx="5417094" cy="2683899"/>
          </a:xfrm>
          <a:prstGeom prst="rect">
            <a:avLst/>
          </a:prstGeom>
        </p:spPr>
      </p:pic>
      <p:pic>
        <p:nvPicPr>
          <p:cNvPr id="17" name="Imagen 16">
            <a:extLst>
              <a:ext uri="{FF2B5EF4-FFF2-40B4-BE49-F238E27FC236}">
                <a16:creationId xmlns:a16="http://schemas.microsoft.com/office/drawing/2014/main" id="{229E3FA4-589C-0A8C-C2A5-22C7FE6AC172}"/>
              </a:ext>
            </a:extLst>
          </p:cNvPr>
          <p:cNvPicPr>
            <a:picLocks noChangeAspect="1"/>
          </p:cNvPicPr>
          <p:nvPr/>
        </p:nvPicPr>
        <p:blipFill>
          <a:blip r:embed="rId6"/>
          <a:stretch>
            <a:fillRect/>
          </a:stretch>
        </p:blipFill>
        <p:spPr>
          <a:xfrm>
            <a:off x="6356155" y="1758863"/>
            <a:ext cx="5417095" cy="2683899"/>
          </a:xfrm>
          <a:prstGeom prst="rect">
            <a:avLst/>
          </a:prstGeom>
        </p:spPr>
      </p:pic>
      <p:sp>
        <p:nvSpPr>
          <p:cNvPr id="4" name="Rectángulo 3">
            <a:extLst>
              <a:ext uri="{FF2B5EF4-FFF2-40B4-BE49-F238E27FC236}">
                <a16:creationId xmlns:a16="http://schemas.microsoft.com/office/drawing/2014/main" id="{A29275CB-4447-E426-3CCC-65F18A42E6B5}"/>
              </a:ext>
            </a:extLst>
          </p:cNvPr>
          <p:cNvSpPr/>
          <p:nvPr/>
        </p:nvSpPr>
        <p:spPr>
          <a:xfrm>
            <a:off x="685800" y="1524052"/>
            <a:ext cx="1452880" cy="3282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Deep</a:t>
            </a:r>
            <a:endParaRPr lang="es-ES"/>
          </a:p>
        </p:txBody>
      </p:sp>
      <p:sp>
        <p:nvSpPr>
          <p:cNvPr id="7" name="Rectángulo 6">
            <a:extLst>
              <a:ext uri="{FF2B5EF4-FFF2-40B4-BE49-F238E27FC236}">
                <a16:creationId xmlns:a16="http://schemas.microsoft.com/office/drawing/2014/main" id="{D757FD1C-01C0-1D1C-018E-5D0CCA848D21}"/>
              </a:ext>
            </a:extLst>
          </p:cNvPr>
          <p:cNvSpPr/>
          <p:nvPr/>
        </p:nvSpPr>
        <p:spPr>
          <a:xfrm>
            <a:off x="6462252" y="1501954"/>
            <a:ext cx="1452880" cy="3282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Shallow</a:t>
            </a:r>
            <a:endParaRPr lang="es-ES"/>
          </a:p>
        </p:txBody>
      </p:sp>
    </p:spTree>
    <p:extLst>
      <p:ext uri="{BB962C8B-B14F-4D97-AF65-F5344CB8AC3E}">
        <p14:creationId xmlns:p14="http://schemas.microsoft.com/office/powerpoint/2010/main" val="23605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Bend waveguide radius vs. loss – deep</a:t>
            </a:r>
            <a:br>
              <a:rPr lang="en-US" sz="2500"/>
            </a:br>
            <a:r>
              <a:rPr lang="en-US" b="0"/>
              <a:t>Find  neff_TE0 for </a:t>
            </a:r>
            <a:r>
              <a:rPr lang="en-US" b="0" err="1"/>
              <a:t>wvl</a:t>
            </a:r>
            <a:r>
              <a:rPr lang="en-US" b="0"/>
              <a:t> 1.55 µm, width 1.2 µm for R=25,50,75,100, 125,150 µm</a:t>
            </a:r>
            <a:br>
              <a:rPr lang="en-US" sz="2500"/>
            </a:b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Tal y como puede observarse en la figura de Bend loss for TE polarization vs Bend radius (radio de la curva), el radio seguro (para pérdidas menores de 0.1 dB/90º) sería mayor de aproximadamente 30 um. </a:t>
            </a:r>
          </a:p>
          <a:p>
            <a:pPr algn="just"/>
            <a:endParaRPr lang="en-US" sz="1200" u="sng">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1779064-50F7-1250-BA17-BC192504ADCA}"/>
              </a:ext>
            </a:extLst>
          </p:cNvPr>
          <p:cNvPicPr>
            <a:picLocks noChangeAspect="1"/>
          </p:cNvPicPr>
          <p:nvPr/>
        </p:nvPicPr>
        <p:blipFill>
          <a:blip r:embed="rId5"/>
          <a:stretch>
            <a:fillRect/>
          </a:stretch>
        </p:blipFill>
        <p:spPr>
          <a:xfrm>
            <a:off x="4135855" y="1544220"/>
            <a:ext cx="3920289" cy="3054334"/>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D9CA-9859-EAF7-D023-63A77F39BC8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DA7CFA3-1063-3682-DF1A-DF22BA0B6157}"/>
              </a:ext>
            </a:extLst>
          </p:cNvPr>
          <p:cNvSpPr txBox="1">
            <a:spLocks noGrp="1"/>
          </p:cNvSpPr>
          <p:nvPr>
            <p:ph type="title"/>
          </p:nvPr>
        </p:nvSpPr>
        <p:spPr>
          <a:xfrm>
            <a:off x="685800" y="408883"/>
            <a:ext cx="10994410" cy="1013098"/>
          </a:xfrm>
          <a:prstGeom prst="rect">
            <a:avLst/>
          </a:prstGeom>
        </p:spPr>
        <p:txBody>
          <a:bodyPr vert="horz" wrap="square" lIns="0" tIns="12700" rIns="0" bIns="0" rtlCol="0">
            <a:spAutoFit/>
          </a:bodyPr>
          <a:lstStyle/>
          <a:p>
            <a:pPr marL="12700">
              <a:lnSpc>
                <a:spcPct val="100000"/>
              </a:lnSpc>
              <a:spcBef>
                <a:spcPts val="100"/>
              </a:spcBef>
            </a:pPr>
            <a:r>
              <a:rPr lang="en-US" sz="2500"/>
              <a:t>Extra exercise 1. </a:t>
            </a:r>
            <a:br>
              <a:rPr lang="es-ES" sz="2500" spc="-5">
                <a:latin typeface="+mj-lt"/>
                <a:cs typeface="Lucida Sans"/>
              </a:rPr>
            </a:br>
            <a:r>
              <a:rPr lang="en-US" b="0"/>
              <a:t>Ejercicio 2 pero cambiando el material del núcleo de Silicon Nitride (SiNx) a Silicon (Si) y las dimensiones de la guía -&gt; h=220 nm ; w=500 nm</a:t>
            </a:r>
            <a:endParaRPr sz="2500" b="0">
              <a:latin typeface="+mj-lt"/>
              <a:cs typeface="Lucida Sans"/>
            </a:endParaRPr>
          </a:p>
        </p:txBody>
      </p:sp>
      <p:pic>
        <p:nvPicPr>
          <p:cNvPr id="83" name="Gráfico 82">
            <a:extLst>
              <a:ext uri="{FF2B5EF4-FFF2-40B4-BE49-F238E27FC236}">
                <a16:creationId xmlns:a16="http://schemas.microsoft.com/office/drawing/2014/main" id="{40880E40-F908-A3AA-B583-D378401AA8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935BD80-9877-C192-7691-A2AFDDE94EFC}"/>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06888F95-5F72-A4ED-469B-D801657A77F4}"/>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1DEBF1BB-99CF-2181-9565-0DEB9EA3D6D6}"/>
              </a:ext>
            </a:extLst>
          </p:cNvPr>
          <p:cNvSpPr txBox="1"/>
          <p:nvPr/>
        </p:nvSpPr>
        <p:spPr>
          <a:xfrm>
            <a:off x="609441" y="4839462"/>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Al sustituir el material del núcleo de nitruro de silicio, por Silicio, el índice efectivo aumenta debido al aumento del índice de refracción de este con respecto del de nitruro de silicio, a pesar de la reducción de las dimesiones del núcleo. </a:t>
            </a:r>
          </a:p>
          <a:p>
            <a:pPr marL="171450" indent="-171450" algn="just">
              <a:buFont typeface="Arial" panose="020B0604020202020204" pitchFamily="34" charset="0"/>
              <a:buChar char="•"/>
            </a:pPr>
            <a:r>
              <a:rPr lang="en-US" sz="1200">
                <a:latin typeface="Arial" panose="020B0604020202020204" pitchFamily="34" charset="0"/>
                <a:cs typeface="Arial" panose="020B0604020202020204" pitchFamily="34" charset="0"/>
              </a:rPr>
              <a:t>Guía Deep (Figura 1): En los modos 2 y 3 la pendiente de neff vs lambda disminuye hasta estabilizarse (es 0 para el modo 3). Fuerte confinamiento.</a:t>
            </a:r>
          </a:p>
          <a:p>
            <a:pPr marL="171450" indent="-171450" algn="just">
              <a:buFont typeface="Arial" panose="020B0604020202020204" pitchFamily="34" charset="0"/>
              <a:buChar char="•"/>
            </a:pPr>
            <a:r>
              <a:rPr lang="en-US" sz="1200">
                <a:latin typeface="Arial" panose="020B0604020202020204" pitchFamily="34" charset="0"/>
                <a:cs typeface="Arial" panose="020B0604020202020204" pitchFamily="34" charset="0"/>
              </a:rPr>
              <a:t>Guía Shallow (Figura 2): Presenta un neff mayor que la deep debido al incremento del área que ocupa el material del núcleo. La coincidencia en las curvas de los modos 1 y 2  sugiere una degeneración de modos donde estos dos modos alcanzan constantes de propagación casi idénticas en ese rango espectral. </a:t>
            </a:r>
          </a:p>
        </p:txBody>
      </p:sp>
      <p:sp>
        <p:nvSpPr>
          <p:cNvPr id="5" name="Rectángulo 4">
            <a:extLst>
              <a:ext uri="{FF2B5EF4-FFF2-40B4-BE49-F238E27FC236}">
                <a16:creationId xmlns:a16="http://schemas.microsoft.com/office/drawing/2014/main" id="{33C884BF-252B-141D-B6B5-0C469AB7E649}"/>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9C9222A3-8C21-F622-908C-4AF82AA632C5}"/>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uadroTexto 16">
            <a:extLst>
              <a:ext uri="{FF2B5EF4-FFF2-40B4-BE49-F238E27FC236}">
                <a16:creationId xmlns:a16="http://schemas.microsoft.com/office/drawing/2014/main" id="{9A29FD59-6920-D166-6EA7-ECA0E9068D56}"/>
              </a:ext>
            </a:extLst>
          </p:cNvPr>
          <p:cNvSpPr txBox="1"/>
          <p:nvPr/>
        </p:nvSpPr>
        <p:spPr>
          <a:xfrm>
            <a:off x="2750229" y="4482466"/>
            <a:ext cx="1050994" cy="276999"/>
          </a:xfrm>
          <a:prstGeom prst="rect">
            <a:avLst/>
          </a:prstGeom>
          <a:noFill/>
        </p:spPr>
        <p:txBody>
          <a:bodyPr wrap="square" rtlCol="0">
            <a:spAutoFit/>
          </a:bodyPr>
          <a:lstStyle/>
          <a:p>
            <a:r>
              <a:rPr lang="es-ES" sz="1200" b="1"/>
              <a:t>Figura 1</a:t>
            </a:r>
          </a:p>
        </p:txBody>
      </p:sp>
      <p:sp>
        <p:nvSpPr>
          <p:cNvPr id="18" name="CuadroTexto 17">
            <a:extLst>
              <a:ext uri="{FF2B5EF4-FFF2-40B4-BE49-F238E27FC236}">
                <a16:creationId xmlns:a16="http://schemas.microsoft.com/office/drawing/2014/main" id="{C6E24E12-B8C4-389D-F3D5-1C076A20F682}"/>
              </a:ext>
            </a:extLst>
          </p:cNvPr>
          <p:cNvSpPr txBox="1"/>
          <p:nvPr/>
        </p:nvSpPr>
        <p:spPr>
          <a:xfrm>
            <a:off x="8617629" y="4482466"/>
            <a:ext cx="1050994" cy="276999"/>
          </a:xfrm>
          <a:prstGeom prst="rect">
            <a:avLst/>
          </a:prstGeom>
          <a:noFill/>
        </p:spPr>
        <p:txBody>
          <a:bodyPr wrap="square" rtlCol="0">
            <a:spAutoFit/>
          </a:bodyPr>
          <a:lstStyle/>
          <a:p>
            <a:r>
              <a:rPr lang="es-ES" sz="1200" b="1"/>
              <a:t>Figura 2</a:t>
            </a:r>
          </a:p>
        </p:txBody>
      </p:sp>
      <p:pic>
        <p:nvPicPr>
          <p:cNvPr id="6" name="Imagen 5">
            <a:extLst>
              <a:ext uri="{FF2B5EF4-FFF2-40B4-BE49-F238E27FC236}">
                <a16:creationId xmlns:a16="http://schemas.microsoft.com/office/drawing/2014/main" id="{B42313B6-2CCF-D560-8FD3-B8F11890F472}"/>
              </a:ext>
            </a:extLst>
          </p:cNvPr>
          <p:cNvPicPr>
            <a:picLocks noChangeAspect="1"/>
          </p:cNvPicPr>
          <p:nvPr/>
        </p:nvPicPr>
        <p:blipFill>
          <a:blip r:embed="rId5"/>
          <a:stretch>
            <a:fillRect/>
          </a:stretch>
        </p:blipFill>
        <p:spPr>
          <a:xfrm>
            <a:off x="777240" y="1537041"/>
            <a:ext cx="5046540" cy="2943815"/>
          </a:xfrm>
          <a:prstGeom prst="rect">
            <a:avLst/>
          </a:prstGeom>
        </p:spPr>
      </p:pic>
      <p:pic>
        <p:nvPicPr>
          <p:cNvPr id="9" name="Imagen 8">
            <a:extLst>
              <a:ext uri="{FF2B5EF4-FFF2-40B4-BE49-F238E27FC236}">
                <a16:creationId xmlns:a16="http://schemas.microsoft.com/office/drawing/2014/main" id="{694E0938-58C9-C9F0-83DD-777FCA297DD3}"/>
              </a:ext>
            </a:extLst>
          </p:cNvPr>
          <p:cNvPicPr>
            <a:picLocks noChangeAspect="1"/>
          </p:cNvPicPr>
          <p:nvPr/>
        </p:nvPicPr>
        <p:blipFill>
          <a:blip r:embed="rId6"/>
          <a:stretch>
            <a:fillRect/>
          </a:stretch>
        </p:blipFill>
        <p:spPr>
          <a:xfrm>
            <a:off x="6619856" y="1501978"/>
            <a:ext cx="5046540" cy="2943815"/>
          </a:xfrm>
          <a:prstGeom prst="rect">
            <a:avLst/>
          </a:prstGeom>
        </p:spPr>
      </p:pic>
    </p:spTree>
    <p:extLst>
      <p:ext uri="{BB962C8B-B14F-4D97-AF65-F5344CB8AC3E}">
        <p14:creationId xmlns:p14="http://schemas.microsoft.com/office/powerpoint/2010/main" val="2579165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C1599-5E78-56FA-9EFF-8F760F27EB5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EAD3A3C-ED63-DA4E-1FB2-926CC777DA1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latin typeface="+mj-lt"/>
                <a:cs typeface="Lucida Sans"/>
              </a:rPr>
              <a:t>Extra exercise 2. </a:t>
            </a:r>
            <a:br>
              <a:rPr lang="en-US" sz="2500" b="0">
                <a:latin typeface="+mj-lt"/>
                <a:cs typeface="Lucida Sans"/>
              </a:rPr>
            </a:br>
            <a:r>
              <a:rPr kumimoji="0" lang="en-US" sz="2000" b="0" i="0" u="none" strike="noStrike" kern="0" cap="none" spc="0" normalizeH="0" baseline="0" noProof="0">
                <a:ln>
                  <a:noFill/>
                </a:ln>
                <a:solidFill>
                  <a:prstClr val="black"/>
                </a:solidFill>
                <a:effectLst/>
                <a:uLnTx/>
                <a:uFillTx/>
                <a:latin typeface="Calibri"/>
                <a:ea typeface="+mj-ea"/>
                <a:cs typeface="Calibri"/>
              </a:rPr>
              <a:t>Ejercicio 3 pero cambiando el barrido entre 300nm y </a:t>
            </a:r>
            <a:r>
              <a:rPr kumimoji="0" lang="en-US" sz="2000" b="0" i="0" strike="noStrike" kern="0" cap="none" spc="0" normalizeH="0" baseline="0" noProof="0">
                <a:ln>
                  <a:noFill/>
                </a:ln>
                <a:solidFill>
                  <a:prstClr val="black"/>
                </a:solidFill>
                <a:effectLst/>
                <a:uLnTx/>
                <a:uFillTx/>
                <a:latin typeface="Calibri"/>
                <a:ea typeface="+mj-ea"/>
                <a:cs typeface="Calibri"/>
              </a:rPr>
              <a:t>1um</a:t>
            </a:r>
            <a:r>
              <a:rPr kumimoji="0" lang="en-US" sz="2000" b="0" i="0" u="none" strike="noStrike" kern="0" cap="none" spc="0" normalizeH="0" baseline="0" noProof="0">
                <a:ln>
                  <a:noFill/>
                </a:ln>
                <a:solidFill>
                  <a:prstClr val="black"/>
                </a:solidFill>
                <a:effectLst/>
                <a:uLnTx/>
                <a:uFillTx/>
                <a:latin typeface="Calibri"/>
                <a:ea typeface="+mj-ea"/>
                <a:cs typeface="Calibri"/>
              </a:rPr>
              <a:t> y la nueva guía de onda</a:t>
            </a:r>
            <a:endParaRPr sz="2500">
              <a:latin typeface="+mj-lt"/>
              <a:cs typeface="Lucida Sans"/>
            </a:endParaRPr>
          </a:p>
        </p:txBody>
      </p:sp>
      <p:pic>
        <p:nvPicPr>
          <p:cNvPr id="83" name="Gráfico 82">
            <a:extLst>
              <a:ext uri="{FF2B5EF4-FFF2-40B4-BE49-F238E27FC236}">
                <a16:creationId xmlns:a16="http://schemas.microsoft.com/office/drawing/2014/main" id="{75B3FB11-97F2-C3C1-64F2-89E9EEF88E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B7F16E-B192-4013-AE8C-EC47AFCA711E}"/>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B76CF360-5706-53DD-3F55-721DD7540DCC}"/>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A6195A5E-DE49-8190-37D3-A8D35EAF7110}"/>
              </a:ext>
            </a:extLst>
          </p:cNvPr>
          <p:cNvSpPr txBox="1"/>
          <p:nvPr/>
        </p:nvSpPr>
        <p:spPr>
          <a:xfrm>
            <a:off x="6980572" y="1499830"/>
            <a:ext cx="4793409" cy="2123658"/>
          </a:xfrm>
          <a:prstGeom prst="rect">
            <a:avLst/>
          </a:prstGeom>
          <a:solidFill>
            <a:schemeClr val="bg1">
              <a:lumMod val="95000"/>
            </a:schemeClr>
          </a:solidFill>
          <a:ln w="28575">
            <a:solidFill>
              <a:srgbClr val="E0700D"/>
            </a:solidFill>
          </a:ln>
        </p:spPr>
        <p:txBody>
          <a:bodyPr wrap="square" rtlCol="0">
            <a:spAutoFit/>
          </a:bodyPr>
          <a:lstStyle/>
          <a:p>
            <a:pPr marL="171450" indent="-171450" algn="just">
              <a:buFontTx/>
              <a:buChar char="-"/>
            </a:pPr>
            <a:r>
              <a:rPr lang="es-ES" sz="1200">
                <a:latin typeface="Arial" panose="020B0604020202020204" pitchFamily="34" charset="0"/>
                <a:cs typeface="Arial" panose="020B0604020202020204" pitchFamily="34" charset="0"/>
              </a:rPr>
              <a:t>En general, los resultados obtenidos son muy similares a los obtenidos con el barrido de ancho realizado para la guía de onda con núcleo de SiNx, sin embargo, podríamos destacar un aumento significativo del neff debido al uso de un núcleo con mayor índice de refracción, unos cambios más abruptos de neff en algunos modos y además, </a:t>
            </a:r>
            <a:r>
              <a:rPr lang="en-US" sz="1200">
                <a:latin typeface="Arial" panose="020B0604020202020204" pitchFamily="34" charset="0"/>
                <a:cs typeface="Arial" panose="020B0604020202020204" pitchFamily="34" charset="0"/>
              </a:rPr>
              <a:t>al igual que sucedía con la guía de onda con núcleo de nitruro de silicio, cuando se emplea un núcleo de silicio se observa que conforme aumenta el ancho de la guía, el índice efectivo de todos los modos aumenta.</a:t>
            </a:r>
            <a:r>
              <a:rPr lang="es-ES" sz="1200">
                <a:latin typeface="Arial" panose="020B0604020202020204" pitchFamily="34" charset="0"/>
                <a:cs typeface="Arial" panose="020B0604020202020204" pitchFamily="34" charset="0"/>
              </a:rPr>
              <a:t> Esto ocurre porque el modo óptico queda cada vez más confinado dentro del núcleo (de alto índice) y menos en la cubierta.</a:t>
            </a:r>
          </a:p>
        </p:txBody>
      </p:sp>
      <p:sp>
        <p:nvSpPr>
          <p:cNvPr id="7" name="Rectángulo 6">
            <a:extLst>
              <a:ext uri="{FF2B5EF4-FFF2-40B4-BE49-F238E27FC236}">
                <a16:creationId xmlns:a16="http://schemas.microsoft.com/office/drawing/2014/main" id="{EB00FC5C-F213-B997-EAB1-E98A023D12A3}"/>
              </a:ext>
            </a:extLst>
          </p:cNvPr>
          <p:cNvSpPr/>
          <p:nvPr/>
        </p:nvSpPr>
        <p:spPr>
          <a:xfrm>
            <a:off x="304801" y="1418372"/>
            <a:ext cx="6017342" cy="423644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3693A4E6-64A1-E3D1-2E70-CFC72B576EE7}"/>
              </a:ext>
            </a:extLst>
          </p:cNvPr>
          <p:cNvPicPr>
            <a:picLocks noChangeAspect="1"/>
          </p:cNvPicPr>
          <p:nvPr/>
        </p:nvPicPr>
        <p:blipFill>
          <a:blip r:embed="rId5"/>
          <a:stretch>
            <a:fillRect/>
          </a:stretch>
        </p:blipFill>
        <p:spPr>
          <a:xfrm>
            <a:off x="381869" y="1829980"/>
            <a:ext cx="5863206" cy="3413223"/>
          </a:xfrm>
          <a:prstGeom prst="rect">
            <a:avLst/>
          </a:prstGeom>
        </p:spPr>
      </p:pic>
    </p:spTree>
    <p:extLst>
      <p:ext uri="{BB962C8B-B14F-4D97-AF65-F5344CB8AC3E}">
        <p14:creationId xmlns:p14="http://schemas.microsoft.com/office/powerpoint/2010/main" val="3859919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BDBF4-1D56-23C3-E772-966912ED941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C24193B-59BE-A399-FD04-520C021D592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kumimoji="0" lang="en-US" sz="2500" b="1" i="0" u="none" strike="noStrike" kern="0" cap="none" spc="0" normalizeH="0" baseline="0" noProof="0">
                <a:ln>
                  <a:noFill/>
                </a:ln>
                <a:solidFill>
                  <a:prstClr val="black"/>
                </a:solidFill>
                <a:effectLst/>
                <a:uLnTx/>
                <a:uFillTx/>
                <a:latin typeface="Calibri"/>
                <a:ea typeface="+mj-ea"/>
                <a:cs typeface="Lucida Sans"/>
              </a:rPr>
              <a:t>Extra exercise 3. </a:t>
            </a:r>
            <a:br>
              <a:rPr kumimoji="0" lang="en-US" sz="2500" b="0" i="0" u="none" strike="noStrike" kern="0" cap="none" spc="0" normalizeH="0" baseline="0" noProof="0">
                <a:ln>
                  <a:noFill/>
                </a:ln>
                <a:solidFill>
                  <a:prstClr val="black"/>
                </a:solidFill>
                <a:effectLst/>
                <a:uLnTx/>
                <a:uFillTx/>
                <a:latin typeface="Calibri"/>
                <a:ea typeface="+mj-ea"/>
                <a:cs typeface="Lucida Sans"/>
              </a:rPr>
            </a:br>
            <a:r>
              <a:rPr kumimoji="0" lang="en-US" sz="2000" b="0" i="0" u="none" strike="noStrike" kern="0" cap="none" spc="0" normalizeH="0" baseline="0" noProof="0">
                <a:ln>
                  <a:noFill/>
                </a:ln>
                <a:solidFill>
                  <a:prstClr val="black"/>
                </a:solidFill>
                <a:effectLst/>
                <a:uLnTx/>
                <a:uFillTx/>
                <a:latin typeface="Calibri"/>
                <a:ea typeface="+mj-ea"/>
                <a:cs typeface="Calibri"/>
              </a:rPr>
              <a:t>Ejercicio 5 pero cambiando el barrido entre 5 y 30 um empleando la nueva guía de onda</a:t>
            </a:r>
            <a:endParaRPr lang="en-US" sz="2500" b="0">
              <a:latin typeface="+mj-lt"/>
              <a:cs typeface="Lucida Sans"/>
            </a:endParaRPr>
          </a:p>
        </p:txBody>
      </p:sp>
      <p:pic>
        <p:nvPicPr>
          <p:cNvPr id="83" name="Gráfico 82">
            <a:extLst>
              <a:ext uri="{FF2B5EF4-FFF2-40B4-BE49-F238E27FC236}">
                <a16:creationId xmlns:a16="http://schemas.microsoft.com/office/drawing/2014/main" id="{1780E8D7-AFD8-17FC-85D4-F8C4E084A4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C931E1-776D-8BFB-40E1-B1E2C81BBEE1}"/>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5781615A-844D-12DA-6FF8-5DE76BC4770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6131A450-FA1D-3CA5-BB7C-6B0283AA757E}"/>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Tal y como puede observarse en la figura de Bend loss for TE polarization vs Bend radius (radio de la curva), las pérdidas dominantes para esta tecnología serían las del modo mientras que las de propagación se mantienen prácticamente constantes. Aunque es complicado obtener el valor exacto a partir del que las pérdidas totals son menores de 0.1 dB, sí podemos observar que para todo el espectro empleado (lambda = 5-30um), dichas pérdidas son bastante menores de 0.1 dB y por lo tanto todos estos valores de radio de curvatura son seguros. </a:t>
            </a:r>
          </a:p>
        </p:txBody>
      </p:sp>
      <p:sp>
        <p:nvSpPr>
          <p:cNvPr id="7" name="Rectángulo 6">
            <a:extLst>
              <a:ext uri="{FF2B5EF4-FFF2-40B4-BE49-F238E27FC236}">
                <a16:creationId xmlns:a16="http://schemas.microsoft.com/office/drawing/2014/main" id="{E88D70ED-2F1C-6F7B-7CC7-BE4614C80EB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B9AF7328-5D6F-D5FF-A930-BCAB19D67779}"/>
              </a:ext>
            </a:extLst>
          </p:cNvPr>
          <p:cNvPicPr>
            <a:picLocks noChangeAspect="1"/>
          </p:cNvPicPr>
          <p:nvPr/>
        </p:nvPicPr>
        <p:blipFill>
          <a:blip r:embed="rId5"/>
          <a:stretch>
            <a:fillRect/>
          </a:stretch>
        </p:blipFill>
        <p:spPr>
          <a:xfrm>
            <a:off x="4171950" y="1572341"/>
            <a:ext cx="3848100" cy="2998092"/>
          </a:xfrm>
          <a:prstGeom prst="rect">
            <a:avLst/>
          </a:prstGeom>
        </p:spPr>
      </p:pic>
    </p:spTree>
    <p:extLst>
      <p:ext uri="{BB962C8B-B14F-4D97-AF65-F5344CB8AC3E}">
        <p14:creationId xmlns:p14="http://schemas.microsoft.com/office/powerpoint/2010/main" val="3125254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E1E002B17413842B52C919604DA6A27" ma:contentTypeVersion="16" ma:contentTypeDescription="Crear nuevo documento." ma:contentTypeScope="" ma:versionID="077c8d2723de2adc1ae62760c135add4">
  <xsd:schema xmlns:xsd="http://www.w3.org/2001/XMLSchema" xmlns:xs="http://www.w3.org/2001/XMLSchema" xmlns:p="http://schemas.microsoft.com/office/2006/metadata/properties" xmlns:ns3="687df890-2601-448c-be3c-56e27ed810cd" xmlns:ns4="3b26aeef-a858-43c9-b8af-7466d1d07be8" targetNamespace="http://schemas.microsoft.com/office/2006/metadata/properties" ma:root="true" ma:fieldsID="a2fd45725851bacaa0017dec0f16d66b" ns3:_="" ns4:_="">
    <xsd:import namespace="687df890-2601-448c-be3c-56e27ed810cd"/>
    <xsd:import namespace="3b26aeef-a858-43c9-b8af-7466d1d07be8"/>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SearchProperties"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7df890-2601-448c-be3c-56e27ed81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b26aeef-a858-43c9-b8af-7466d1d07be8"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element name="SharingHintHash" ma:index="14"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87df890-2601-448c-be3c-56e27ed810c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6691C2-D029-4A7C-B6D9-08627C5E56A2}">
  <ds:schemaRefs>
    <ds:schemaRef ds:uri="3b26aeef-a858-43c9-b8af-7466d1d07be8"/>
    <ds:schemaRef ds:uri="687df890-2601-448c-be3c-56e27ed810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1864006-D717-4ED9-9BCF-0BE92404F1E8}">
  <ds:schemaRefs>
    <ds:schemaRef ds:uri="http://www.w3.org/XML/1998/namespace"/>
    <ds:schemaRef ds:uri="3b26aeef-a858-43c9-b8af-7466d1d07be8"/>
    <ds:schemaRef ds:uri="http://purl.org/dc/terms/"/>
    <ds:schemaRef ds:uri="http://purl.org/dc/elements/1.1/"/>
    <ds:schemaRef ds:uri="http://schemas.microsoft.com/office/2006/documentManagement/types"/>
    <ds:schemaRef ds:uri="687df890-2601-448c-be3c-56e27ed810cd"/>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9353CB3-481E-4E64-8A54-9F5E946698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1642</Words>
  <Application>Microsoft Office PowerPoint</Application>
  <PresentationFormat>Panorámica</PresentationFormat>
  <Paragraphs>129</Paragraphs>
  <Slides>13</Slides>
  <Notes>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13</vt:i4>
      </vt:variant>
    </vt:vector>
  </HeadingPairs>
  <TitlesOfParts>
    <vt:vector size="21" baseType="lpstr">
      <vt:lpstr>Aptos</vt:lpstr>
      <vt:lpstr>Arial</vt:lpstr>
      <vt:lpstr>Calibri</vt:lpstr>
      <vt:lpstr>Google Sans Text</vt:lpstr>
      <vt:lpstr>Lucida Sans</vt:lpstr>
      <vt:lpstr>Times New Roman</vt:lpstr>
      <vt:lpstr>Wingdings</vt:lpstr>
      <vt:lpstr>Office Theme</vt:lpstr>
      <vt:lpstr>Presentación de PowerPoint</vt:lpstr>
      <vt:lpstr>Instructions General</vt:lpstr>
      <vt:lpstr>Learning outcome #1 – Effective index of a waveguide </vt:lpstr>
      <vt:lpstr>I. Resultados ejercicio 1</vt:lpstr>
      <vt:lpstr>II.Resultados ejercicio 1. Plots de los diferentes modos</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Extra exercise 1.  Ejercicio 2 pero cambiando el material del núcleo de Silicon Nitride (SiNx) a Silicon (Si) y las dimensiones de la guía -&gt; h=220 nm ; w=500 nm</vt:lpstr>
      <vt:lpstr>Extra exercise 2.  Ejercicio 3 pero cambiando el barrido entre 300nm y 1um y la nueva guía de onda</vt:lpstr>
      <vt:lpstr>Extra exercise 3.  Ejercicio 5 pero cambiando el barrido entre 5 y 30 um empleando la nueva guía de onda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Angel Gonzalez de Amo</cp:lastModifiedBy>
  <cp:revision>2</cp:revision>
  <dcterms:created xsi:type="dcterms:W3CDTF">2025-01-27T02:46:57Z</dcterms:created>
  <dcterms:modified xsi:type="dcterms:W3CDTF">2026-03-14T18:27:41Z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0x0101003E1E002B17413842B52C919604DA6A27</vt:lpwstr>
  </property>
</Properties>
</file>